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1" r:id="rId5"/>
    <p:sldId id="290" r:id="rId6"/>
    <p:sldId id="294" r:id="rId7"/>
    <p:sldId id="297" r:id="rId8"/>
    <p:sldId id="330" r:id="rId9"/>
    <p:sldId id="301" r:id="rId10"/>
    <p:sldId id="303" r:id="rId11"/>
    <p:sldId id="329" r:id="rId12"/>
    <p:sldId id="306" r:id="rId13"/>
    <p:sldId id="307" r:id="rId14"/>
    <p:sldId id="308" r:id="rId15"/>
    <p:sldId id="310" r:id="rId16"/>
    <p:sldId id="315" r:id="rId17"/>
    <p:sldId id="316" r:id="rId18"/>
    <p:sldId id="332" r:id="rId19"/>
    <p:sldId id="257" r:id="rId20"/>
    <p:sldId id="319" r:id="rId21"/>
    <p:sldId id="33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#_Toc13886%20" TargetMode="Externa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#_Toc13886%20" TargetMode="Externa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hyperlink" Target="#_Toc13886%20" TargetMode="Externa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jpe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github.com/f1atteee/Math-Touch-Repository" TargetMode="External"/><Relationship Id="rId3" Type="http://schemas.openxmlformats.org/officeDocument/2006/relationships/hyperlink" Target="https://github.com/f1atteee/Identity.Users.Api" TargetMode="External"/><Relationship Id="rId2" Type="http://schemas.openxmlformats.org/officeDocument/2006/relationships/hyperlink" Target="https://github.com/f1atteee/GeneralData.API" TargetMode="Externa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" y="2914650"/>
            <a:ext cx="12192000" cy="1600835"/>
          </a:xfrm>
        </p:spPr>
        <p:txBody>
          <a:bodyPr>
            <a:noAutofit/>
          </a:bodyPr>
          <a:lstStyle/>
          <a:p>
            <a:r>
              <a:rPr lang="en-US" altLang="en-US" sz="48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Розробка навчальної комп</a:t>
            </a:r>
            <a:r>
              <a:rPr lang="uk-UA" altLang="en-US" sz="48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’</a:t>
            </a:r>
            <a:r>
              <a:rPr lang="en-US" altLang="en-US" sz="48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ютерної програми </a:t>
            </a:r>
            <a:r>
              <a:rPr lang="en-US" altLang="en-US" sz="48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“Репетитор з шкільного курсу математики”</a:t>
            </a:r>
            <a:endParaRPr lang="en-US" altLang="en-US" sz="4800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-635" y="5101590"/>
            <a:ext cx="121926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Виконали: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студенти групи  ПМО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м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  </a:t>
            </a:r>
            <a:endParaRPr lang="en-US" altLang="en-US" sz="2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пеціальності 014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.09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– 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ередня освіта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(Інформатика)</a:t>
            </a:r>
            <a:endParaRPr lang="en-US" altLang="en-US" sz="2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Кравець О. Б.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та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Кравець Н. А. </a:t>
            </a:r>
            <a:endParaRPr lang="en-US" altLang="en-US" sz="2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uk-UA" altLang="en-US" sz="2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Науковий к</a:t>
            </a:r>
            <a:r>
              <a:rPr lang="en-US" altLang="en-US" sz="2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ерівник: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uk-UA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доц. 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Рикалюк Р. Є. </a:t>
            </a:r>
            <a:endParaRPr lang="uk-UA" altLang="en-US" sz="2400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5165" y="2025015"/>
            <a:ext cx="1082357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en-US" sz="3200" b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КВАЛІФІКАЦІЙНА (МАГІСТЕРСЬКА) РОБОТА</a:t>
            </a:r>
            <a:endParaRPr lang="en-US" altLang="en-US" sz="3200" b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0" y="926465"/>
            <a:ext cx="1219263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000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Львівський національний університет ім. Івана Франка</a:t>
            </a:r>
            <a:endParaRPr lang="en-US" altLang="en-US" sz="2000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en-US" sz="2000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Факультет прикладної математики та інформатики</a:t>
            </a:r>
            <a:endParaRPr lang="en-US" altLang="en-US" sz="2000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uk-UA" altLang="en-US" sz="2000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Кафедра програмування</a:t>
            </a:r>
            <a:endParaRPr lang="uk-UA" altLang="en-US" sz="2000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052050" y="0"/>
            <a:ext cx="2140585" cy="21907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-635" y="2608580"/>
            <a:ext cx="121926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uk-UA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 тему:</a:t>
            </a:r>
            <a:endParaRPr lang="uk-UA" sz="2400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8790" y="1384300"/>
            <a:ext cx="11337925" cy="60007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endParaRPr sz="1600" b="1">
              <a:solidFill>
                <a:srgbClr val="000000"/>
              </a:solidFill>
              <a:latin typeface="Times New Roman" panose="02020603050405020304"/>
              <a:ea typeface="等线 Light"/>
            </a:endParaRPr>
          </a:p>
          <a:p>
            <a:pPr defTabSz="266700"/>
            <a:endParaRPr sz="1600">
              <a:solidFill>
                <a:schemeClr val="accent6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hlinkClick r:id="rId2" action="ppaction://hlinkfile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223645"/>
            <a:ext cx="121913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Актуальність</a:t>
            </a:r>
            <a:endParaRPr lang="en-US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4775" y="2398395"/>
            <a:ext cx="1208659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just">
              <a:buFont typeface="Wingdings" panose="05000000000000000000" charset="0"/>
              <a:buChar char="o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Потреба в повторенні складних тем у власному темпі.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o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Перехід частини навчання в дистанційний формат.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o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Наявність НМТ замість ЗНО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o"/>
            </a:pP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отреба у безкоштовних і доступних онлайн-інструментах.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8790" y="1384300"/>
            <a:ext cx="11337925" cy="60007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endParaRPr sz="1600" b="1">
              <a:solidFill>
                <a:srgbClr val="000000"/>
              </a:solidFill>
              <a:latin typeface="Times New Roman" panose="02020603050405020304"/>
              <a:ea typeface="等线 Light"/>
            </a:endParaRPr>
          </a:p>
          <a:p>
            <a:pPr defTabSz="266700"/>
            <a:endParaRPr sz="1600">
              <a:solidFill>
                <a:schemeClr val="accent6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hlinkClick r:id="rId2" action="ppaction://hlinkfile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53365" y="2189480"/>
            <a:ext cx="11685270" cy="3285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en-US" sz="32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Мета: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озробити навчальний застосунок для самостійного повторення шкільної математики.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32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Методи:</a:t>
            </a:r>
            <a:endParaRPr lang="en-US" altLang="en-US" sz="3200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 algn="just"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аналіз навчальних програм і стандартів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 algn="just"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аналіз існуючих освітніх застосунків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71550" lvl="1" indent="-514350" algn="just"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тестування функціоналу програми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8790" y="1384300"/>
            <a:ext cx="11337925" cy="60007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endParaRPr sz="1600" b="1">
              <a:solidFill>
                <a:srgbClr val="000000"/>
              </a:solidFill>
              <a:latin typeface="Times New Roman" panose="02020603050405020304"/>
              <a:ea typeface="等线 Light"/>
            </a:endParaRPr>
          </a:p>
          <a:p>
            <a:pPr defTabSz="266700"/>
            <a:endParaRPr sz="1600">
              <a:solidFill>
                <a:schemeClr val="accent6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hlinkClick r:id="rId2" action="ppaction://hlinkfile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39975" y="339090"/>
            <a:ext cx="98513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uk-UA" altLang="en-US" sz="48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Огляд існуючих застосунків</a:t>
            </a:r>
            <a:endParaRPr lang="uk-UA" altLang="en-US" sz="48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1445" y="1488440"/>
            <a:ext cx="8394700" cy="1014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8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EdEra </a:t>
            </a: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– орієнтація на довгі курси, менше підходить для повторення.</a:t>
            </a:r>
            <a:endParaRPr lang="en-US" altLang="en-US" sz="28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4775" y="3296920"/>
            <a:ext cx="88398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8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Photomath </a:t>
            </a: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– фокус на рішення задач, а не на навчання.</a:t>
            </a:r>
            <a:endParaRPr lang="en-US" altLang="en-US" sz="28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31445" y="4870450"/>
            <a:ext cx="1151191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8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Khan Academy</a:t>
            </a: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– глобальний ресурс, але важко персоналізувати під українські програми</a:t>
            </a:r>
            <a:endParaRPr lang="en-US" altLang="en-US" sz="28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5" name="Picture 14"/>
          <p:cNvPicPr/>
          <p:nvPr/>
        </p:nvPicPr>
        <p:blipFill>
          <a:blip r:embed="rId3"/>
          <a:stretch>
            <a:fillRect/>
          </a:stretch>
        </p:blipFill>
        <p:spPr>
          <a:xfrm>
            <a:off x="9645015" y="1488440"/>
            <a:ext cx="1998345" cy="890270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4"/>
          <a:stretch>
            <a:fillRect/>
          </a:stretch>
        </p:blipFill>
        <p:spPr>
          <a:xfrm>
            <a:off x="8521065" y="2825750"/>
            <a:ext cx="3670300" cy="1416685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34" name="Picture 33"/>
          <p:cNvPicPr/>
          <p:nvPr/>
        </p:nvPicPr>
        <p:blipFill>
          <a:blip r:embed="rId5"/>
          <a:stretch>
            <a:fillRect/>
          </a:stretch>
        </p:blipFill>
        <p:spPr>
          <a:xfrm>
            <a:off x="8839835" y="4870450"/>
            <a:ext cx="2976880" cy="183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69415" y="339090"/>
            <a:ext cx="105219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Функціонал системи</a:t>
            </a:r>
            <a:endParaRPr lang="en-US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04800" y="1800860"/>
            <a:ext cx="11685270" cy="3067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 algn="just">
              <a:buFont typeface="Wingdings" panose="05000000000000000000" charset="0"/>
              <a:buChar char="q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Реєстрація/вхід користувача 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Перегляд тем з алгебри та геометрії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Теорія 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та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словник термінів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Тестування за минулими роками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Зворотній зв’язок із розробниками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Особистий кабінет 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і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вихід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04165" y="339090"/>
            <a:ext cx="118872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Технології</a:t>
            </a:r>
            <a:endParaRPr lang="en-US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078470" y="3445510"/>
            <a:ext cx="3994150" cy="590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— хостинг і налаштування мікросервісів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70" y="4718685"/>
            <a:ext cx="2081530" cy="104140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21" name="Picture 20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5035" y="3303270"/>
            <a:ext cx="1918970" cy="82423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6"/>
          <a:stretch>
            <a:fillRect/>
          </a:stretch>
        </p:blipFill>
        <p:spPr>
          <a:xfrm>
            <a:off x="140970" y="1608455"/>
            <a:ext cx="1879600" cy="8915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020570" y="1785620"/>
            <a:ext cx="42665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— серверні мікросервіси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Picture 5"/>
          <p:cNvPicPr/>
          <p:nvPr/>
        </p:nvPicPr>
        <p:blipFill>
          <a:blip r:embed="rId7"/>
          <a:stretch>
            <a:fillRect/>
          </a:stretch>
        </p:blipFill>
        <p:spPr>
          <a:xfrm>
            <a:off x="304165" y="2759075"/>
            <a:ext cx="1627505" cy="14757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020570" y="3297555"/>
            <a:ext cx="37922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None/>
            </a:pP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— база даних користувачів і матеріалів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222500" y="4968875"/>
            <a:ext cx="3840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— безпечна аутентифікація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8219440" y="1785620"/>
            <a:ext cx="39719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None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— 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клієнтський </a:t>
            </a: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інтерфей</a:t>
            </a:r>
            <a:r>
              <a:rPr lang="uk-UA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</a:t>
            </a:r>
            <a:endParaRPr lang="uk-UA" altLang="en-US" sz="28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Picture 7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8"/>
          <a:stretch>
            <a:fillRect/>
          </a:stretch>
        </p:blipFill>
        <p:spPr>
          <a:xfrm>
            <a:off x="5905500" y="1483360"/>
            <a:ext cx="2009140" cy="1017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011680" y="339090"/>
            <a:ext cx="101796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Архітектура застосунку</a:t>
            </a:r>
            <a:endParaRPr lang="en-US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04800" y="1517650"/>
            <a:ext cx="11685270" cy="5053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Мікросервісна архітектура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uk-UA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Компоненти: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 algn="just">
              <a:buFont typeface="Wingdings" panose="05000000000000000000" charset="0"/>
              <a:buChar char="§"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Math.Identity.API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— управління користувачами, їх аутентифікаці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я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та авторизаці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я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 algn="just">
              <a:buFont typeface="Wingdings" panose="05000000000000000000" charset="0"/>
              <a:buChar char="§"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General.API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— 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доступ до 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навчальн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их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матеріал</a:t>
            </a:r>
            <a:r>
              <a:rPr lang="uk-UA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ів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-457200" algn="just">
              <a:buFont typeface="Wingdings" panose="05000000000000000000" charset="0"/>
              <a:buChar char="§"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Front (React + TypeScript) 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— клієнтська частина, яка взаємодіє з користувачем і забезпечує інтерфейс для взаємодії з усіма сервісами системи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Зв’язок між сервісами — </a:t>
            </a: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REST API</a:t>
            </a:r>
            <a:endParaRPr lang="en-US" altLang="en-US" sz="32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50925" y="339090"/>
            <a:ext cx="11140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Модель бази даних</a:t>
            </a:r>
            <a:endParaRPr lang="en-US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04800" y="1261110"/>
            <a:ext cx="11685270" cy="4112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IdentityUsers 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— реєстрація, ролі, доступ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MathTouch 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— теми, підрозділи, зображення, словник, тести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1918970"/>
            <a:ext cx="5399405" cy="13595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3896995"/>
            <a:ext cx="5399405" cy="2799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53365" y="6278880"/>
            <a:ext cx="11685270" cy="511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Головна навігація → “Алгебра”/“Геометрія” → теми → теорія → тести</a:t>
            </a:r>
            <a:endParaRPr lang="en-US" altLang="en-US" sz="28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28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051560" y="365125"/>
            <a:ext cx="11140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uk-UA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Інтерфейс</a:t>
            </a:r>
            <a:endParaRPr lang="uk-UA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2" name="Content Placeholder 1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49095" y="756285"/>
            <a:ext cx="101993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Структура навчального </a:t>
            </a:r>
            <a:r>
              <a:rPr lang="uk-UA" altLang="en-US" sz="5400" b="1">
                <a:solidFill>
                  <a:schemeClr val="accent6">
                    <a:lumMod val="75000"/>
                  </a:schemeClr>
                </a:solidFill>
                <a:latin typeface="Times New Roman" panose="02020603050405020304"/>
                <a:ea typeface="等线 Light"/>
                <a:sym typeface="+mn-ea"/>
              </a:rPr>
              <a:t>матеріалу</a:t>
            </a:r>
            <a:endParaRPr lang="uk-UA" altLang="en-US" sz="5400" b="1">
              <a:solidFill>
                <a:schemeClr val="accent6">
                  <a:lumMod val="75000"/>
                </a:schemeClr>
              </a:solidFill>
              <a:latin typeface="Times New Roman" panose="02020603050405020304"/>
              <a:ea typeface="等线 Ligh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04800" y="2837815"/>
            <a:ext cx="11685270" cy="3367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Теор</a:t>
            </a:r>
            <a:r>
              <a:rPr lang="uk-UA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ія</a:t>
            </a:r>
            <a:r>
              <a:rPr lang="uk-UA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з алгебри: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від натуральних чисел до похідної й інтегралів (32 теми)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Теор</a:t>
            </a:r>
            <a:r>
              <a:rPr lang="uk-UA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ія</a:t>
            </a:r>
            <a:r>
              <a:rPr lang="uk-UA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з </a:t>
            </a:r>
            <a:r>
              <a:rPr lang="uk-UA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г</a:t>
            </a:r>
            <a:r>
              <a:rPr lang="en-US" altLang="en-US" sz="32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еометрія:</a:t>
            </a:r>
            <a:r>
              <a:rPr lang="en-US" altLang="en-US" sz="32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від кутів до тіл обертання, векторів у просторі (32 теми)</a:t>
            </a: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32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182745" y="167640"/>
            <a:ext cx="8009890" cy="550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6" name="Picture 2"/>
          <p:cNvPicPr>
            <a:picLocks noChangeAspect="1"/>
          </p:cNvPicPr>
          <p:nvPr/>
        </p:nvPicPr>
        <p:blipFill>
          <a:blip r:embed="rId2"/>
          <a:srcRect t="9982" b="27721"/>
          <a:stretch>
            <a:fillRect/>
          </a:stretch>
        </p:blipFill>
        <p:spPr>
          <a:xfrm>
            <a:off x="5905500" y="167640"/>
            <a:ext cx="538353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04775" y="3006090"/>
            <a:ext cx="120878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Потрібна теорія з теми «Логарифми та логарифмічна функція» у застосунку «Математика: повторення»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3836035"/>
            <a:ext cx="12185650" cy="29984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775" y="1539875"/>
            <a:ext cx="51263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266700"/>
            <a:r>
              <a:rPr lang="en-US" altLang="en-US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Приклад застосування</a:t>
            </a:r>
            <a:r>
              <a:rPr lang="uk-UA" altLang="en-US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uk-UA" altLang="en-US" sz="36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-635" y="1333500"/>
            <a:ext cx="12186285" cy="520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Font typeface="Wingdings" panose="05000000000000000000" charset="0"/>
              <a:buNone/>
            </a:pPr>
            <a:endParaRPr lang="en-US" altLang="en-US" sz="20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25755" y="1393190"/>
            <a:ext cx="2156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Розв’язання: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0" name="2384804F-3998-4D57-9195-F3826E402611-1" descr="C:/Users/Lenovo/AppData/Local/Temp/wps.cHwmgFwp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7470" y="1440815"/>
            <a:ext cx="1798320" cy="406400"/>
          </a:xfrm>
          <a:prstGeom prst="rect">
            <a:avLst/>
          </a:prstGeom>
        </p:spPr>
      </p:pic>
      <p:pic>
        <p:nvPicPr>
          <p:cNvPr id="21" name="2384804F-3998-4D57-9195-F3826E402611-2" descr="C:/Users/Lenovo/AppData/Local/Temp/wps.StBQHUwp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7470" y="1957070"/>
            <a:ext cx="2026285" cy="381000"/>
          </a:xfrm>
          <a:prstGeom prst="rect">
            <a:avLst/>
          </a:prstGeom>
        </p:spPr>
      </p:pic>
      <p:pic>
        <p:nvPicPr>
          <p:cNvPr id="19" name="2384804F-3998-4D57-9195-F3826E402611-3" descr="C:/Users/Lenovo/AppData/Local/Temp/wps.FQKtgnwp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7470" y="2534285"/>
            <a:ext cx="5964555" cy="37973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25755" y="28206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chemeClr val="accent6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Відповідь: Б) 7. </a:t>
            </a:r>
            <a:endParaRPr lang="en-US" sz="2400">
              <a:solidFill>
                <a:schemeClr val="accent6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755" y="3465830"/>
            <a:ext cx="4511040" cy="259524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325755" y="60610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 charset="0"/>
                <a:sym typeface="+mn-ea"/>
              </a:rPr>
              <a:t>І вона правильна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b="28743"/>
          <a:stretch>
            <a:fillRect/>
          </a:stretch>
        </p:blipFill>
        <p:spPr>
          <a:xfrm>
            <a:off x="6365875" y="120015"/>
            <a:ext cx="4669790" cy="26447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04775" y="2698750"/>
            <a:ext cx="121926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Потрібна теорія з теми 27 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«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Циліндри та їх властивості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»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у застосунку 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b="1249"/>
          <a:stretch>
            <a:fillRect/>
          </a:stretch>
        </p:blipFill>
        <p:spPr>
          <a:xfrm>
            <a:off x="220345" y="3274695"/>
            <a:ext cx="6145530" cy="26739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20345" y="60375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just" defTabSz="914400">
              <a:lnSpc>
                <a:spcPct val="100000"/>
              </a:lnSpc>
              <a:buClrTx/>
              <a:buSzTx/>
              <a:buFont typeface="Wingdings" panose="05000000000000000000" charset="0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Згідно теорії відповідь буде А. 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295" y="3159125"/>
            <a:ext cx="4625975" cy="278701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932295" y="6037580"/>
            <a:ext cx="5014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just" defTabSz="914400">
              <a:lnSpc>
                <a:spcPct val="100000"/>
              </a:lnSpc>
              <a:buClrTx/>
              <a:buSzTx/>
              <a:buFont typeface="Wingdings" panose="05000000000000000000" charset="0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І вона правильна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4775" y="1539875"/>
            <a:ext cx="51263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266700"/>
            <a:r>
              <a:rPr lang="en-US" altLang="en-US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Приклад застосування</a:t>
            </a:r>
            <a:r>
              <a:rPr lang="uk-UA" altLang="en-US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uk-UA" altLang="en-US" sz="36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15" y="365125"/>
            <a:ext cx="9887585" cy="1325880"/>
          </a:xfrm>
        </p:spPr>
        <p:txBody>
          <a:bodyPr>
            <a:normAutofit/>
          </a:bodyPr>
          <a:p>
            <a:pPr algn="ctr"/>
            <a:r>
              <a:rPr lang="en-US" altLang="en-US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Переваги програми</a:t>
            </a:r>
            <a:endParaRPr lang="en-US" altLang="en-US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49885" y="1998345"/>
            <a:ext cx="1149286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571500" indent="-571500" algn="just">
              <a:buFont typeface="Wingdings" panose="05000000000000000000" charset="0"/>
              <a:buChar char="ü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Актуальність до НМТ/ЗНО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ü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Безкоштовність і доступність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ü"/>
            </a:pPr>
            <a:r>
              <a:rPr lang="uk-UA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Зручний </a:t>
            </a: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інтерфейс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185" y="365125"/>
            <a:ext cx="9365615" cy="1325880"/>
          </a:xfrm>
        </p:spPr>
        <p:txBody>
          <a:bodyPr>
            <a:normAutofit/>
          </a:bodyPr>
          <a:p>
            <a:pPr algn="ctr"/>
            <a:r>
              <a:rPr lang="en-US" altLang="en-US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Подальший розвиток</a:t>
            </a:r>
            <a:endParaRPr lang="en-US" altLang="en-US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49885" y="1998345"/>
            <a:ext cx="1149286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571500" indent="-571500" algn="just">
              <a:buFont typeface="Wingdings" panose="05000000000000000000" charset="0"/>
              <a:buChar char="q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Власні тести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q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Система нотаток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q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Телеграм-бот для взаємодії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q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Облік часу користувача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q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Інструменти для вчителів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185" y="365125"/>
            <a:ext cx="9365615" cy="1325880"/>
          </a:xfrm>
        </p:spPr>
        <p:txBody>
          <a:bodyPr>
            <a:normAutofit/>
          </a:bodyPr>
          <a:p>
            <a:pPr algn="ctr"/>
            <a:r>
              <a:rPr lang="en-US" altLang="en-US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Висновки</a:t>
            </a:r>
            <a:endParaRPr lang="en-US" altLang="en-US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49885" y="1350010"/>
            <a:ext cx="11842115" cy="52622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buFont typeface="Wingdings" panose="05000000000000000000" charset="0"/>
              <a:buNone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Реалізовано застосунок “Математика: повторення”</a:t>
            </a:r>
            <a:r>
              <a:rPr lang="uk-UA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uk-UA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en-US" sz="24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Кравець Ольга:</a:t>
            </a:r>
            <a:endParaRPr lang="en-US" altLang="en-US" sz="24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Проєктування</a:t>
            </a:r>
            <a:r>
              <a:rPr lang="uk-UA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створення</a:t>
            </a:r>
            <a:r>
              <a:rPr lang="uk-UA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та наповнення</a:t>
            </a: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бази даних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Дизайн застосунку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Тестування та верифікація контенту, розробка функціональних вимог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Створення та оптимізація візуального контенту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n-US" sz="24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Кравець Назар:</a:t>
            </a:r>
            <a:endParaRPr lang="en-US" altLang="en-US" sz="24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Розробка back-end частини (проєктування архітектури, Web API)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Реалізація front-end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Система аутентифікації та авторизації користувачів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n-US" sz="24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Спільна робота:</a:t>
            </a:r>
            <a:endParaRPr lang="en-US" altLang="en-US" sz="24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Вибір технологій та архітектурних рішень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Координація дій, тестування та виправлення помилок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Підготовка документації та презентація проєкту</a:t>
            </a:r>
            <a:endParaRPr lang="en-US" altLang="en-US" sz="24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187325"/>
            <a:ext cx="9055100" cy="1325880"/>
          </a:xfrm>
        </p:spPr>
        <p:txBody>
          <a:bodyPr>
            <a:normAutofit/>
          </a:bodyPr>
          <a:p>
            <a:pPr algn="ctr"/>
            <a:r>
              <a:rPr lang="en-US" altLang="en-US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GitHub</a:t>
            </a:r>
            <a:endParaRPr lang="en-US" altLang="en-US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42240" y="1384300"/>
            <a:ext cx="11907520" cy="230695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Репозиторії з кодом:</a:t>
            </a:r>
            <a:r>
              <a:rPr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uk-UA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hlinkClick r:id="rId2" action="ppaction://hlinkfile"/>
              </a:rPr>
              <a:t>GeneralData.API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Identity.Users.API</a:t>
            </a:r>
            <a:endParaRPr lang="en-US" altLang="en-US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buFont typeface="Wingdings" panose="05000000000000000000" charset="0"/>
              <a:buChar char="§"/>
            </a:pPr>
            <a:r>
              <a:rPr lang="en-US" altLang="en-US" sz="36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hlinkClick r:id="rId4" action="ppaction://hlinkfile"/>
              </a:rPr>
              <a:t>Math-Touch-Repository</a:t>
            </a:r>
            <a:endParaRPr lang="uk-UA" sz="36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104775" y="4230370"/>
            <a:ext cx="5892800" cy="2511425"/>
          </a:xfrm>
          <a:prstGeom prst="rect">
            <a:avLst/>
          </a:prstGeom>
        </p:spPr>
      </p:pic>
      <p:pic>
        <p:nvPicPr>
          <p:cNvPr id="13" name="Content Placeholder 12"/>
          <p:cNvPicPr>
            <a:picLocks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6115685" y="1181735"/>
            <a:ext cx="5934075" cy="26244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685" y="4006850"/>
            <a:ext cx="5934075" cy="2734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2440" y="441325"/>
            <a:ext cx="9179560" cy="1325880"/>
          </a:xfrm>
        </p:spPr>
        <p:txBody>
          <a:bodyPr/>
          <a:p>
            <a:pPr algn="ctr"/>
            <a:r>
              <a:rPr lang="en-US" altLang="en-US" sz="39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СПИСОК ВИКОРИСТАНИХ ДЖЕРЕЛ</a:t>
            </a:r>
            <a:endParaRPr lang="en-US" altLang="en-US" sz="3900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0" y="1384300"/>
            <a:ext cx="12192635" cy="538035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Нова українська школа [Електронний ресурс] // Міністерство освіти і науки України. – Режим доступу: https://mon.gov.ua/tag/nova-ukrainska-shkola?&amp;tag=nova-ukrainska-shkola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Що таке національний мультипредметний тест? [Електронний ресурс] // Освіта.ua. – Режим доступу: https://osvita.ua/test/advice/86414/#google_vignette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Тадеєв В.О. Шкільний тлумачник словник-довідник з математики/ В.О. Тадеєв. – Тернопіль: Навчальна книга – Богдан, 1999. – 160 с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Підготовка до ЗНО – Освітній портал 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Академія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[Електронний ресурс]. – Режим доступу: http://zno.academia.in.ua/#google_vignette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Урок "Похідна функції, її геометричний та фізичний зміст" [Електронний ресурс]. – Режим доступу: https://naurok.com.ua/urok-pohidna-funkci-geometrichniy-ta-fizichniy-zmist-283571.html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Тести ЗНО онлайн з предмета 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Математика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[Електронний ресурс]. – Режим доступу: https://zno.osvita.ua/mathematics/#google_vignette 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Репозиторії проекту “Математика: повторення” на GitHub [Електронний ресурс]. – Режим доступу: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algn="just">
              <a:buFont typeface="Wingdings" panose="05000000000000000000" charset="0"/>
              <a:buNone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GeneralData.API: https://github.com/f1atteee/GeneralData.API,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algn="just">
              <a:buFont typeface="Wingdings" panose="05000000000000000000" charset="0"/>
              <a:buNone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Identity.Users.Api: https://github.com/f1atteee/Identity.Users.Api,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algn="just">
              <a:buFont typeface="Wingdings" panose="05000000000000000000" charset="0"/>
              <a:buNone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Math-Touch-Repository: https://github.com/f1atteee/Math-Touch-Repository.</a:t>
            </a:r>
            <a:endParaRPr lang="en-US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Wingdings" panose="05000000000000000000" charset="0"/>
              <a:buAutoNum type="arabicPeriod"/>
            </a:pPr>
            <a:r>
              <a:rPr lang="en-US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Пріоритетні напрями досліджень в науковій та освітній діяльності: матеріали ХV Міжнародної науково-практичної конференції м. Львів, 29-30 травня 2025 року. Частина І. – Львів : Львівський науковий форум, 2025. – 262 с</a:t>
            </a:r>
            <a:r>
              <a:rPr lang="uk-UA" altLang="en-US" sz="17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uk-UA" altLang="en-US" sz="170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8450" y="2766060"/>
            <a:ext cx="9055100" cy="1325880"/>
          </a:xfrm>
        </p:spPr>
        <p:txBody>
          <a:bodyPr>
            <a:normAutofit/>
          </a:bodyPr>
          <a:p>
            <a:pPr algn="ctr"/>
            <a:r>
              <a:rPr lang="uk-UA" altLang="en-US" sz="72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Дякуємо за увагу!</a:t>
            </a:r>
            <a:endParaRPr lang="uk-UA" altLang="en-US" sz="7200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rcRect t="23832" b="28563"/>
          <a:stretch>
            <a:fillRect/>
          </a:stretch>
        </p:blipFill>
        <p:spPr>
          <a:xfrm>
            <a:off x="104775" y="0"/>
            <a:ext cx="2908300" cy="138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4664</Words>
  <Application>WPS Presentation</Application>
  <PresentationFormat>Widescreen</PresentationFormat>
  <Paragraphs>168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Times New Roman</vt:lpstr>
      <vt:lpstr>等线 Light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Переваги програми</vt:lpstr>
      <vt:lpstr>Подальший розвиток</vt:lpstr>
      <vt:lpstr>Висновки</vt:lpstr>
      <vt:lpstr>GitHub</vt:lpstr>
      <vt:lpstr>СПИСОК ВИКОРИСТАНИХ ДЖЕРЕЛ</vt:lpstr>
      <vt:lpstr>Дякуємо за увагу!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Kravets</dc:title>
  <dc:creator>Lenovo</dc:creator>
  <cp:lastModifiedBy>Olia Kravets</cp:lastModifiedBy>
  <cp:revision>50</cp:revision>
  <dcterms:created xsi:type="dcterms:W3CDTF">2025-05-05T20:10:00Z</dcterms:created>
  <dcterms:modified xsi:type="dcterms:W3CDTF">2026-01-11T13:18:00Z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0CDE071DE5DA4757AB1CE77DB4742558_12</vt:lpwstr>
  </property>
  <property fmtid="{D5CDD505-2E9C-101B-9397-08002B2CF9AE}" pid="3" name="KSOProductBuildVer">
    <vt:lpwstr>1033-12.2.0.22549</vt:lpwstr>
  </property>
</Properties>
</file>